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72865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0D4FF"/>
                </a:solidFill>
              </a:defRPr>
            </a:pPr>
            <a:r>
              <a:t>ACADEMIC CAPSTONE DEFENSE   •   B.TECH CYBER SECURITY</a:t>
            </a:r>
          </a:p>
          <a:p>
            <a:pPr>
              <a:spcAft>
                <a:spcPts val="800"/>
              </a:spcAft>
              <a:defRPr sz="3600" b="1">
                <a:solidFill>
                  <a:srgbClr val="F0F6FC"/>
                </a:solidFill>
              </a:defRPr>
            </a:pPr>
            <a:r>
              <a:t>MIRAGE Junior: Intelligent Deception Grid</a:t>
            </a:r>
          </a:p>
          <a:p>
            <a:pPr>
              <a:spcAft>
                <a:spcPts val="2000"/>
              </a:spcAft>
              <a:defRPr sz="1600">
                <a:solidFill>
                  <a:srgbClr val="94A3B8"/>
                </a:solidFill>
              </a:defRPr>
            </a:pPr>
            <a:r>
              <a:t>Next-Generation Autonomous Honeypot Network with Real-Time Behavioral Threat Scoring, Dynamic 25-Point Firewall Isolation &amp; Instant Telegram Alerts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114800"/>
            <a:ext cx="3328416" cy="210312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29626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Project Lead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Jaskaran Bandral</a:t>
            </a:r>
            <a:br/>
            <a:r>
              <a:t>@Jaskaranbandral-07</a:t>
            </a:r>
            <a:br/>
            <a:br/>
            <a:r>
              <a:t>• Core Architecture &amp; Engines</a:t>
            </a:r>
            <a:br/>
            <a:r>
              <a:t>• Scoring &amp; Dynamic Quarantine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4114800"/>
            <a:ext cx="3328416" cy="210312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4251960"/>
            <a:ext cx="29626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FF88"/>
                </a:solidFill>
              </a:defRPr>
            </a:pPr>
            <a:r>
              <a:t>Co-Developer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Relish Sharma</a:t>
            </a:r>
            <a:br/>
            <a:r>
              <a:t>@2024A7R009</a:t>
            </a:r>
            <a:br/>
            <a:br/>
            <a:r>
              <a:t>• Frontend &amp; Lucide UI</a:t>
            </a:r>
            <a:br/>
            <a:r>
              <a:t>• Telemetry &amp; System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4114800"/>
            <a:ext cx="3328416" cy="210312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4251960"/>
            <a:ext cx="29626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855F7"/>
                </a:solidFill>
              </a:defRPr>
            </a:pPr>
            <a:r>
              <a:t>Live Production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Status: 100% Production Verified</a:t>
            </a:r>
            <a:br/>
            <a:r>
              <a:t>Live: mirage-junior.vercel.app</a:t>
            </a:r>
            <a:br/>
            <a:br/>
            <a:r>
              <a:t>• 5 Protocols Emulated</a:t>
            </a:r>
            <a:br/>
            <a:r>
              <a:t>• Auto-Quarantine @ 25 Pts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PROBLEM DEFINITION   |   SLIDE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0F6FC"/>
                </a:solidFill>
              </a:defRPr>
            </a:pPr>
            <a:r>
              <a:t>The Core Problem Statement: Why Perimeter Defenses Fail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75504" cy="457200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F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3366"/>
                </a:solidFill>
              </a:defRPr>
            </a:pPr>
            <a:r>
              <a:t>🚨 Traditional Defense Blindspots</a:t>
            </a:r>
          </a:p>
          <a:p>
            <a:pPr>
              <a:spcAft>
                <a:spcPts val="800"/>
              </a:spcAft>
              <a:defRPr sz="1250">
                <a:solidFill>
                  <a:srgbClr val="F0F6FC"/>
                </a:solidFill>
              </a:defRPr>
            </a:pPr>
            <a:r>
              <a:t>• Firewalls are Purely Reactive: Rely on known attack signatures. Zero-day exploits and novel evasion payloads pass through undetected.</a:t>
            </a:r>
          </a:p>
          <a:p>
            <a:pPr>
              <a:spcAft>
                <a:spcPts val="800"/>
              </a:spcAft>
              <a:defRPr sz="1250">
                <a:solidFill>
                  <a:srgbClr val="F0F6FC"/>
                </a:solidFill>
              </a:defRPr>
            </a:pPr>
            <a:r>
              <a:t>• Zero Lateral Movement Visibility: Once an adversary breaches the perimeter boundary (phishing, leaked VPN keys), internal reconnaissance is completely invisible.</a:t>
            </a:r>
          </a:p>
          <a:p>
            <a:pPr>
              <a:spcAft>
                <a:spcPts val="800"/>
              </a:spcAft>
              <a:defRPr sz="1250">
                <a:solidFill>
                  <a:srgbClr val="F0F6FC"/>
                </a:solidFill>
              </a:defRPr>
            </a:pPr>
            <a:r>
              <a:t>• SOC Alert Fatigue: Enterprise SOCs drown in 10,000+ noisy alerts per day with high false-positive ratios, causing real critical intrusions to be overlooked.</a:t>
            </a:r>
          </a:p>
          <a:p>
            <a:pPr>
              <a:spcAft>
                <a:spcPts val="800"/>
              </a:spcAft>
              <a:defRPr sz="1250">
                <a:solidFill>
                  <a:srgbClr val="F0F6FC"/>
                </a:solidFill>
              </a:defRPr>
            </a:pPr>
            <a:r>
              <a:t>• The Defender's Asymmetry: Defenders must secure 100% of attack surfaces, while an attacker only needs a single misconfiguration to compromise the network.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645920"/>
            <a:ext cx="5175504" cy="457200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00FF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5664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FF88"/>
                </a:solidFill>
              </a:defRPr>
            </a:pPr>
            <a:r>
              <a:t>🎯 The Deception Objective (Why MIRAGE?)</a:t>
            </a:r>
          </a:p>
          <a:p>
            <a:pPr>
              <a:spcAft>
                <a:spcPts val="800"/>
              </a:spcAft>
              <a:defRPr sz="1250">
                <a:solidFill>
                  <a:srgbClr val="F0F6FC"/>
                </a:solidFill>
              </a:defRPr>
            </a:pPr>
            <a:r>
              <a:t>• Invert the Asymmetry: Deploy high-enticement decoy servers across unused network spaces, turning the network into a minefield for attackers.</a:t>
            </a:r>
          </a:p>
          <a:p>
            <a:pPr>
              <a:spcAft>
                <a:spcPts val="800"/>
              </a:spcAft>
              <a:defRPr sz="1250">
                <a:solidFill>
                  <a:srgbClr val="F0F6FC"/>
                </a:solidFill>
              </a:defRPr>
            </a:pPr>
            <a:r>
              <a:t>• Zero False-Positive Guarantee: Legitimate corporate users have no business touching decoy traps. Every single interaction is 100% hostile intent with zero false positives.</a:t>
            </a:r>
          </a:p>
          <a:p>
            <a:pPr>
              <a:spcAft>
                <a:spcPts val="800"/>
              </a:spcAft>
              <a:defRPr sz="1250">
                <a:solidFill>
                  <a:srgbClr val="F0F6FC"/>
                </a:solidFill>
              </a:defRPr>
            </a:pPr>
            <a:r>
              <a:t>• Continuous Risk Quantification: Quantify attacker behavior with mathematical weighting and decay rather than blunt binary IP blocking.</a:t>
            </a:r>
          </a:p>
          <a:p>
            <a:pPr>
              <a:spcAft>
                <a:spcPts val="800"/>
              </a:spcAft>
              <a:defRPr sz="1250">
                <a:solidFill>
                  <a:srgbClr val="F0F6FC"/>
                </a:solidFill>
              </a:defRPr>
            </a:pPr>
            <a:r>
              <a:t>• Sub-Second Auto Containment: Sever malicious IP network access at 25 threat points in &lt; 50ms, with real-time Telegram push alerts directly to the SOC admin's phone.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ARCHITECTURE &amp; SOLUTION   |   SLIDE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0F6FC"/>
                </a:solidFill>
              </a:defRPr>
            </a:pPr>
            <a:r>
              <a:t>System Architecture: 4-Tier Autonomous Defense Grid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75504" cy="214884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097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Tier 1: Deception Decoy Grid</a:t>
            </a:r>
          </a:p>
          <a:p>
            <a:pPr>
              <a:defRPr sz="1250">
                <a:solidFill>
                  <a:srgbClr val="94A3B8"/>
                </a:solidFill>
              </a:defRPr>
            </a:pPr>
            <a:r>
              <a:t>Multi-protocol low-interaction honeypots (SSH, HTTP, FTP, Telnet, MySQL) emulating authentic server banners while strictly sandboxing commands to prevent host compromise.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645920"/>
            <a:ext cx="5175504" cy="214884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5664" y="1783080"/>
            <a:ext cx="48097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FF88"/>
                </a:solidFill>
              </a:defRPr>
            </a:pPr>
            <a:r>
              <a:t>Tier 2: Ingestion &amp; Telemetry Bus</a:t>
            </a:r>
          </a:p>
          <a:p>
            <a:pPr>
              <a:defRPr sz="1250">
                <a:solidFill>
                  <a:srgbClr val="94A3B8"/>
                </a:solidFill>
              </a:defRPr>
            </a:pPr>
            <a:r>
              <a:t>Captures raw socket handshakes, parses HTTP payloads and login attempts, normalizes into JSON envelopes, and enriches with GeoIP location and MITRE ATT&amp;CK TTP mapping.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175504" cy="214884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48097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9900"/>
                </a:solidFill>
              </a:defRPr>
            </a:pPr>
            <a:r>
              <a:t>Tier 3: Analytics &amp; Containment Engine</a:t>
            </a:r>
          </a:p>
          <a:p>
            <a:pPr>
              <a:defRPr sz="1250">
                <a:solidFill>
                  <a:srgbClr val="94A3B8"/>
                </a:solidFill>
              </a:defRPr>
            </a:pPr>
            <a:r>
              <a:t>Calculates behavioral threat scores in real-time with exponential threat decay. Triggers cross-platform OS firewall isolation (netsh/iptables) the instant score reaches 25 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4069080"/>
            <a:ext cx="5175504" cy="214884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4206240"/>
            <a:ext cx="4809744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855F7"/>
                </a:solidFill>
              </a:defRPr>
            </a:pPr>
            <a:r>
              <a:t>Tier 4: Real-Time SOC Command Center</a:t>
            </a:r>
          </a:p>
          <a:p>
            <a:pPr>
              <a:defRPr sz="1250">
                <a:solidFill>
                  <a:srgbClr val="94A3B8"/>
                </a:solidFill>
              </a:defRPr>
            </a:pPr>
            <a:r>
              <a:t>Next.js 14 and Tailwind CSS dashboard with dark cyber glassmorphism, 10-per-page paginated attack feeds, attacker timeline replays, and instant mobile Telegram alerts.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DECOY ENGINEERING   |   SLIDE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0F6FC"/>
                </a:solidFill>
              </a:defRPr>
            </a:pPr>
            <a:r>
              <a:t>Multi-Protocol Decoys: Kyu, Kisliye &amp; Kaise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93392" cy="457200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6276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SSH Decoy</a:t>
            </a:r>
          </a:p>
          <a:p>
            <a:pPr>
              <a:spcAft>
                <a:spcPts val="1000"/>
              </a:spcAft>
              <a:defRPr sz="1100" b="1">
                <a:solidFill>
                  <a:srgbClr val="00D4FF"/>
                </a:solidFill>
              </a:defRPr>
            </a:pPr>
            <a:r>
              <a:t>[PORT 22 / 2222]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Emulates OpenSSH 8.2 banner. Records usernames, passwords, and terminal command execution attempts in a safe emulated shell.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2" y="1645920"/>
            <a:ext cx="1993392" cy="457200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90672" y="1783080"/>
            <a:ext cx="16276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FF88"/>
                </a:solidFill>
              </a:defRPr>
            </a:pPr>
            <a:r>
              <a:t>HTTP Decoy</a:t>
            </a:r>
          </a:p>
          <a:p>
            <a:pPr>
              <a:spcAft>
                <a:spcPts val="1000"/>
              </a:spcAft>
              <a:defRPr sz="1100" b="1">
                <a:solidFill>
                  <a:srgbClr val="00FF88"/>
                </a:solidFill>
              </a:defRPr>
            </a:pPr>
            <a:r>
              <a:t>[PORT 80 / 8080]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Emulates vulnerable phpMyAdmin and wp-login portals. Captures directory traversal (../../etc/passwd), SQLi, and XSS attack vectors.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45920"/>
            <a:ext cx="1993392" cy="457200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6944" y="1783080"/>
            <a:ext cx="16276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9900"/>
                </a:solidFill>
              </a:defRPr>
            </a:pPr>
            <a:r>
              <a:t>FTP Decoy</a:t>
            </a:r>
          </a:p>
          <a:p>
            <a:pPr>
              <a:spcAft>
                <a:spcPts val="1000"/>
              </a:spcAft>
              <a:defRPr sz="1100" b="1">
                <a:solidFill>
                  <a:srgbClr val="FF9900"/>
                </a:solidFill>
              </a:defRPr>
            </a:pPr>
            <a:r>
              <a:t>[PORT 21 / 2121]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Emulates vsFTPd 2.3.4. Traps anonymous logins, credential harvesting, and unauthorized directory enumeration attempts.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45920"/>
            <a:ext cx="1993392" cy="457200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43216" y="1783080"/>
            <a:ext cx="16276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855F7"/>
                </a:solidFill>
              </a:defRPr>
            </a:pPr>
            <a:r>
              <a:t>Telnet Decoy</a:t>
            </a:r>
          </a:p>
          <a:p>
            <a:pPr>
              <a:spcAft>
                <a:spcPts val="1000"/>
              </a:spcAft>
              <a:defRPr sz="1100" b="1">
                <a:solidFill>
                  <a:srgbClr val="A855F7"/>
                </a:solidFill>
              </a:defRPr>
            </a:pPr>
            <a:r>
              <a:t>[PORT 23 / 2323]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Captures automated IoT botnet swarms (Mirai/Mozi) rapidly cycling default embedded device passwords (admin:admin, root:root).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45920"/>
            <a:ext cx="1993392" cy="457200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19488" y="1783080"/>
            <a:ext cx="162763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3366"/>
                </a:solidFill>
              </a:defRPr>
            </a:pPr>
            <a:r>
              <a:t>MySQL Decoy</a:t>
            </a:r>
          </a:p>
          <a:p>
            <a:pPr>
              <a:spcAft>
                <a:spcPts val="1000"/>
              </a:spcAft>
              <a:defRPr sz="1100" b="1">
                <a:solidFill>
                  <a:srgbClr val="FF3366"/>
                </a:solidFill>
              </a:defRPr>
            </a:pPr>
            <a:r>
              <a:t>[PORT 3306]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Emulates MySQL 8.0 handshake. Traps unauthorized database exfiltration queries and brute-force root access probes.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MATHEMATICAL MODELING   |   SLIDE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0F6FC"/>
                </a:solidFill>
              </a:defRPr>
            </a:pPr>
            <a:r>
              <a:t>Behavioral Threat Scoring &amp; Mathematical Decay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75504" cy="457200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📐 The Threat Decay Formula</a:t>
            </a:r>
          </a:p>
          <a:p>
            <a:pPr>
              <a:spcAft>
                <a:spcPts val="400"/>
              </a:spcAft>
              <a:defRPr sz="1300" b="1">
                <a:solidFill>
                  <a:srgbClr val="F0F6FC"/>
                </a:solidFill>
              </a:defRPr>
            </a:pPr>
            <a:r>
              <a:t>Mathematical Model:</a:t>
            </a:r>
          </a:p>
          <a:p>
            <a:pPr>
              <a:spcAft>
                <a:spcPts val="1200"/>
              </a:spcAft>
              <a:defRPr sz="1600" b="1">
                <a:solidFill>
                  <a:srgbClr val="00FF88"/>
                </a:solidFill>
              </a:defRPr>
            </a:pPr>
            <a:r>
              <a:t>Score(t) = Score₀ · e^( -λ · Δt 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Score₀: Accumulated raw behavioral threat points from attack events.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λ (Decay Constant): ln(2) / Half-Life (t½ = 3600 seconds / 1 hour).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Δt: Elapsed time in seconds since the attacker's last logged interaction.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Algorithmic Rationale: Transient internet scanners probe once and disconnect; their scores decay naturally to 0. Persistent attackers sustain rapid actions and reach quarantine.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645920"/>
            <a:ext cx="5175504" cy="457200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5664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9900"/>
                </a:solidFill>
              </a:defRPr>
            </a:pPr>
            <a:r>
              <a:t>⚡ Action-Based Threat Weights</a:t>
            </a:r>
          </a:p>
          <a:p>
            <a:pPr>
              <a:spcAft>
                <a:spcPts val="800"/>
              </a:spcAft>
              <a:defRPr sz="1200">
                <a:solidFill>
                  <a:srgbClr val="F0F6FC"/>
                </a:solidFill>
              </a:defRPr>
            </a:pPr>
            <a:r>
              <a:t>• Port Scan / Decoy Probe: +5 pts</a:t>
            </a:r>
            <a:br/>
            <a:r>
              <a:t>  [Low Risk (reconnaissance scan)]</a:t>
            </a:r>
          </a:p>
          <a:p>
            <a:pPr>
              <a:spcAft>
                <a:spcPts val="800"/>
              </a:spcAft>
              <a:defRPr sz="1200">
                <a:solidFill>
                  <a:srgbClr val="F0F6FC"/>
                </a:solidFill>
              </a:defRPr>
            </a:pPr>
            <a:r>
              <a:t>• Directory Traversal / Auth Probe: +15 pts</a:t>
            </a:r>
            <a:br/>
            <a:r>
              <a:t>  [Medium Risk (path navigation / brute probe)]</a:t>
            </a:r>
          </a:p>
          <a:p>
            <a:pPr>
              <a:spcAft>
                <a:spcPts val="800"/>
              </a:spcAft>
              <a:defRPr sz="1200">
                <a:solidFill>
                  <a:srgbClr val="F0F6FC"/>
                </a:solidFill>
              </a:defRPr>
            </a:pPr>
            <a:r>
              <a:t>• SQL Injection / RCE Exploitation: +20 pts</a:t>
            </a:r>
            <a:br/>
            <a:r>
              <a:t>  [High Risk (direct weaponized exploit payload)]</a:t>
            </a:r>
          </a:p>
          <a:p>
            <a:pPr>
              <a:spcAft>
                <a:spcPts val="800"/>
              </a:spcAft>
              <a:defRPr sz="1200">
                <a:solidFill>
                  <a:srgbClr val="F0F6FC"/>
                </a:solidFill>
              </a:defRPr>
            </a:pPr>
            <a:r>
              <a:t>• Sustained Brute Force / Exploit Burst: +30 pts</a:t>
            </a:r>
            <a:br/>
            <a:r>
              <a:t>  [Critical Risk (active automated dictionary attack)]</a:t>
            </a:r>
          </a:p>
          <a:p>
            <a:pPr>
              <a:spcAft>
                <a:spcPts val="800"/>
              </a:spcAft>
              <a:defRPr sz="1200">
                <a:solidFill>
                  <a:srgbClr val="F0F6FC"/>
                </a:solidFill>
              </a:defRPr>
            </a:pPr>
            <a:r>
              <a:t>• Honeytoken File Access (.env / .sql): +40 pts</a:t>
            </a:r>
            <a:br/>
            <a:r>
              <a:t>  [Severe Risk (guaranteed internal breach tripwire)]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AUTONOMOUS RESPONSE   |   SLIDE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0F6FC"/>
                </a:solidFill>
              </a:defRPr>
            </a:pPr>
            <a:r>
              <a:t>Zero-Delay Auto-Quarantine &amp; Mobile Telegram Alerts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75504" cy="4572000"/>
          </a:xfrm>
          <a:prstGeom prst="roundRect">
            <a:avLst/>
          </a:prstGeom>
          <a:solidFill>
            <a:srgbClr val="121826"/>
          </a:solidFill>
          <a:ln w="19050">
            <a:solidFill>
              <a:srgbClr val="FF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3366"/>
                </a:solidFill>
              </a:defRPr>
            </a:pPr>
            <a:r>
              <a:t>🛡️ 25-Point Auto-Quarantine Threshold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Why 25 Points?</a:t>
            </a:r>
            <a:br/>
            <a:r>
              <a:t>  Calibrated to prevent false-positive blocks from single casual port pings (5 pts), while instantly neutralizing deliberate multi-step attacks.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Trigger Combinations:</a:t>
            </a:r>
            <a:br/>
            <a:r>
              <a:t>  • 2 Directory Traversals: 15 + 15 = 30 pts ≥ 25 ➔ QUARANTINE</a:t>
            </a:r>
            <a:br/>
            <a:r>
              <a:t>• 1 SQL Injection + 1 Probe: 20 + 5 = 25 pts ≥ 25 ➔ QUARANTINE</a:t>
            </a:r>
            <a:br/>
            <a:r>
              <a:t>• 1 Brute-Force Burst: 30 pts ≥ 25 ➔ IMMEDIATE QUARANTINE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Sub-50ms Reaction Speed:</a:t>
            </a:r>
            <a:br/>
            <a:r>
              <a:t>  Executes in &lt; 50ms compared to the 15–45 minute average response time of traditional human SOC teams.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Cross-Platform OS Enforcement:</a:t>
            </a:r>
            <a:br/>
            <a:r>
              <a:t>  • Linux: iptables -I INPUT -s &lt;ip&gt; -j DROP</a:t>
            </a:r>
            <a:br/>
            <a:r>
              <a:t>• Windows: netsh advfirewall firewall add rule name="MIRAGE-BLOCK" dir=in action=block remoteip=&lt;ip&gt;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645920"/>
            <a:ext cx="5175504" cy="457200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5664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FF88"/>
                </a:solidFill>
              </a:defRPr>
            </a:pPr>
            <a:r>
              <a:t>📱 Instant Telegram SOC Push Notifications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Mobile SOC Reach:</a:t>
            </a:r>
            <a:br/>
            <a:r>
              <a:t>  Admins are not stationed at a terminal 24/7. Push notifications deliver instant situational awareness to smartphones anywhere.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Asynchronous &amp; Non-Blocking:</a:t>
            </a:r>
            <a:br/>
            <a:r>
              <a:t>  Dispatched via background worker queue; network latency or bot delays never degrade decoy capture responsiveness.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Rich Incident Payload Contents:</a:t>
            </a:r>
            <a:br/>
            <a:r>
              <a:t>  • 🚨 Severity Banner: CRITICAL / QUARANTINE</a:t>
            </a:r>
            <a:br/>
            <a:r>
              <a:t>• 🌐 Attacker IP &amp; GeoIP Origin Country</a:t>
            </a:r>
            <a:br/>
            <a:r>
              <a:t>• 🎯 Targeted Service &amp; Exploit String</a:t>
            </a:r>
            <a:br/>
            <a:r>
              <a:t>• 📈 Real-Time Threat Score vs 25 Threshold</a:t>
            </a:r>
            <a:br/>
            <a:r>
              <a:t>• 🛡️ Confirmation of Applied Firewall DROP Rule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Zero-Secrets Git Security:</a:t>
            </a:r>
            <a:br/>
            <a:r>
              <a:t>  Bot tokens &amp; Chat IDs stored strictly in local .env files; never committed to public version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OPERATIONS &amp; DEPLOYMENT   |   SLIDE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0F6FC"/>
                </a:solidFill>
              </a:defRPr>
            </a:pPr>
            <a:r>
              <a:t>SOC Command Dashboard &amp; Production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75504" cy="457200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0D4FF"/>
                </a:solidFill>
              </a:defRPr>
            </a:pPr>
            <a:r>
              <a:t>🖥️ 6 Core Command Center Views</a:t>
            </a:r>
          </a:p>
          <a:p>
            <a:pPr>
              <a:spcAft>
                <a:spcPts val="500"/>
              </a:spcAft>
              <a:defRPr sz="1150">
                <a:solidFill>
                  <a:srgbClr val="F0F6FC"/>
                </a:solidFill>
              </a:defRPr>
            </a:pPr>
            <a:r>
              <a:t>• Overview Command Hub (/): Executive KPIs, Threat Severity Doughnut &amp; Top Attacking Countries Bar Charts.</a:t>
            </a:r>
          </a:p>
          <a:p>
            <a:pPr>
              <a:spcAft>
                <a:spcPts val="500"/>
              </a:spcAft>
              <a:defRPr sz="1150">
                <a:solidFill>
                  <a:srgbClr val="F0F6FC"/>
                </a:solidFill>
              </a:defRPr>
            </a:pPr>
            <a:r>
              <a:t>• Full Attack Telemetry (/attacks): Clean 10-records-per-page pagination with protocol filter chips and 1-click CSV audit export.</a:t>
            </a:r>
          </a:p>
          <a:p>
            <a:pPr>
              <a:spcAft>
                <a:spcPts val="500"/>
              </a:spcAft>
              <a:defRPr sz="1150">
                <a:solidFill>
                  <a:srgbClr val="F0F6FC"/>
                </a:solidFill>
              </a:defRPr>
            </a:pPr>
            <a:r>
              <a:t>• Attacker Profile &amp; Timeline (/attacker/&lt;ip&gt;): Chronological narrative replay detailing the adversary's step-by-step kill-chain.</a:t>
            </a:r>
          </a:p>
          <a:p>
            <a:pPr>
              <a:spcAft>
                <a:spcPts val="500"/>
              </a:spcAft>
              <a:defRPr sz="1150">
                <a:solidFill>
                  <a:srgbClr val="F0F6FC"/>
                </a:solidFill>
              </a:defRPr>
            </a:pPr>
            <a:r>
              <a:t>• Quarantine Hub (/quarantine): Active isolation management table with instant 1-click manual unblock overrides.</a:t>
            </a:r>
          </a:p>
          <a:p>
            <a:pPr>
              <a:spcAft>
                <a:spcPts val="500"/>
              </a:spcAft>
              <a:defRPr sz="1150">
                <a:solidFill>
                  <a:srgbClr val="F0F6FC"/>
                </a:solidFill>
              </a:defRPr>
            </a:pPr>
            <a:r>
              <a:t>• Honeytoken Tripwires (/honeytokens): High-enticement decoy files (.env, credentials.xlsx, backup.sql) with watchdog filesystem traps.</a:t>
            </a:r>
          </a:p>
          <a:p>
            <a:pPr>
              <a:spcAft>
                <a:spcPts val="500"/>
              </a:spcAft>
              <a:defRPr sz="1150">
                <a:solidFill>
                  <a:srgbClr val="F0F6FC"/>
                </a:solidFill>
              </a:defRPr>
            </a:pPr>
            <a:r>
              <a:t>• System Control Panel (/settings): Dynamic threshold adjustment (25 pts), Telegram bot toggle, and decoy port configurations.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645920"/>
            <a:ext cx="5175504" cy="4572000"/>
          </a:xfrm>
          <a:prstGeom prst="roundRect">
            <a:avLst/>
          </a:prstGeom>
          <a:solidFill>
            <a:srgbClr val="1218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55664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A855F7"/>
                </a:solidFill>
              </a:defRPr>
            </a:pPr>
            <a:r>
              <a:t>🌐 Production Deployment &amp; Git Sync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Vercel Edge Global Deployment:</a:t>
            </a:r>
            <a:br/>
            <a:r>
              <a:t>  Live frontend deployed globally at mirage-junior.vercel.app with zero cold-start latency.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Zero-Dependency SQLite Backend:</a:t>
            </a:r>
            <a:br/>
            <a:r>
              <a:t>  Embedded ACID storage using WAL (Write-Ahead Logging) mode, preventing database lockups during heavy port scans.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Dual Synchronized Repositories:</a:t>
            </a:r>
            <a:br/>
            <a:r>
              <a:t>  • Lead Repo: github.com/Jaskaranbandral-07/mirage-junior</a:t>
            </a:r>
            <a:br/>
            <a:r>
              <a:t>• Contributor Repo: github.com/2024A7R009/mirage-junior</a:t>
            </a:r>
          </a:p>
          <a:p>
            <a:pPr>
              <a:spcAft>
                <a:spcPts val="800"/>
              </a:spcAft>
              <a:defRPr sz="1200">
                <a:solidFill>
                  <a:srgbClr val="94A3B8"/>
                </a:solidFill>
              </a:defRPr>
            </a:pPr>
            <a:r>
              <a:t>• Robust Dual-Channel Streaming:</a:t>
            </a:r>
            <a:br/>
            <a:r>
              <a:t>  Sub-second WebSockets with automatic fallback to 5-second asynchronous polling for resilient connectivity.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1300" b="1">
                <a:solidFill>
                  <a:srgbClr val="00D4FF"/>
                </a:solidFill>
              </a:defRPr>
            </a:pPr>
            <a:r>
              <a:t>CAPSTONE DEFENSE CONCLUDED   •   SLIDE 8 OF 8</a:t>
            </a:r>
          </a:p>
          <a:p>
            <a:pPr algn="ctr">
              <a:spcAft>
                <a:spcPts val="1400"/>
              </a:spcAft>
              <a:defRPr sz="5000" b="1">
                <a:solidFill>
                  <a:srgbClr val="F0F6FC"/>
                </a:solidFill>
              </a:defRPr>
            </a:pPr>
            <a:r>
              <a:t>Thank You!</a:t>
            </a:r>
          </a:p>
          <a:p>
            <a:pPr algn="ctr">
              <a:spcAft>
                <a:spcPts val="2800"/>
              </a:spcAft>
              <a:defRPr sz="1600">
                <a:solidFill>
                  <a:srgbClr val="94A3B8"/>
                </a:solidFill>
              </a:defRPr>
            </a:pPr>
            <a:r>
              <a:t>MIRAGE Junior demonstrates that proactive deception, behavioral threat scoring, and zero-delay containment can fundamentally invert the cybersecurity asymmetry.</a:t>
            </a:r>
          </a:p>
          <a:p>
            <a:pPr algn="ctr">
              <a:spcAft>
                <a:spcPts val="2000"/>
              </a:spcAft>
              <a:defRPr sz="1600" b="1">
                <a:solidFill>
                  <a:srgbClr val="00FF88"/>
                </a:solidFill>
              </a:defRPr>
            </a:pPr>
            <a:r>
              <a:t>🌐 Live Showcase: https://mirage-junior.vercel.app</a:t>
            </a:r>
            <a:br/>
            <a:r>
              <a:t>💻 GitHub: https://github.com/Jaskaranbandral-07/mirage-junior</a:t>
            </a:r>
          </a:p>
          <a:p>
            <a:pPr algn="ctr">
              <a:defRPr sz="1400">
                <a:solidFill>
                  <a:srgbClr val="00D4FF"/>
                </a:solidFill>
              </a:defRPr>
            </a:pPr>
            <a:r>
              <a:t>Project Lead: Jaskaran Bandral   •   Co-Developer: Relish Sharma</a:t>
            </a:r>
            <a:br/>
            <a:r>
              <a:t>Department of Computer Science &amp; Engineering (Cybersecurity Specialization)</a:t>
            </a:r>
            <a:br/>
            <a:br/>
            <a:r>
              <a:t>We are now open for Evaluator Questions &amp; Live Defense!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